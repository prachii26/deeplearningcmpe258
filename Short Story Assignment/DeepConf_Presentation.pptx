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A5568"/>
                </a:solidFill>
                <a:latin typeface="Arial"/>
              </a:rPr>
              <a:t>AIME 2025 Accuracy (%)  —  by model and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pass@1</c:v>
                </c:pt>
              </c:strCache>
            </c:strRef>
          </c:tx>
          <c:spPr>
            <a:solidFill>
              <a:srgbClr val="E2EA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6B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GPT-120B</c:v>
                  </c:pt>
                  <c:pt idx="1">
                    <c:v>DS-R1-8B</c:v>
                  </c:pt>
                  <c:pt idx="2">
                    <c:v>Qwen3-32B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91.8</c:v>
                </c:pt>
                <c:pt idx="1">
                  <c:v>76.9</c:v>
                </c:pt>
                <c:pt idx="2">
                  <c:v>71.7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cons@512</c:v>
                </c:pt>
              </c:strCache>
            </c:strRef>
          </c:tx>
          <c:spPr>
            <a:solidFill>
              <a:srgbClr val="7BA7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6B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GPT-120B</c:v>
                  </c:pt>
                  <c:pt idx="1">
                    <c:v>DS-R1-8B</c:v>
                  </c:pt>
                  <c:pt idx="2">
                    <c:v>Qwen3-32B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</c:v>
                </c:pt>
                <c:pt idx="1">
                  <c:v>82.3</c:v>
                </c:pt>
                <c:pt idx="2">
                  <c:v>80.1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DeepConf-low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6B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GPT-120B</c:v>
                  </c:pt>
                  <c:pt idx="1">
                    <c:v>DS-R1-8B</c:v>
                  </c:pt>
                  <c:pt idx="2">
                    <c:v>Qwen3-32B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99.9</c:v>
                </c:pt>
                <c:pt idx="1">
                  <c:v>86.4</c:v>
                </c:pt>
                <c:pt idx="2">
                  <c:v>80.2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C6B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3"/>
          <c:min val="60"/>
        </c:scaling>
        <c:delete val="0"/>
        <c:axPos val="l"/>
        <c:majorGridlines>
          <c:spPr>
            <a:ln w="6350" cap="flat">
              <a:solidFill>
                <a:srgbClr val="EA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A5568"/>
                </a:solidFill>
                <a:latin typeface="Arial"/>
              </a:rPr>
              <a:t>Generated Tokens (×10⁸)  —  GPT-OSS-120B by task and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cons@512</c:v>
                </c:pt>
              </c:strCache>
            </c:strRef>
          </c:tx>
          <c:spPr>
            <a:solidFill>
              <a:srgbClr val="E2EA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AIME24</c:v>
                  </c:pt>
                  <c:pt idx="1">
                    <c:v>AIME25</c:v>
                  </c:pt>
                  <c:pt idx="2">
                    <c:v>BRUMO25</c:v>
                  </c:pt>
                  <c:pt idx="3">
                    <c:v>HMMT25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2.66</c:v>
                </c:pt>
                <c:pt idx="1">
                  <c:v>3.23</c:v>
                </c:pt>
                <c:pt idx="2">
                  <c:v>2.68</c:v>
                </c:pt>
                <c:pt idx="3">
                  <c:v>4.09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DC-high</c:v>
                </c:pt>
              </c:strCache>
            </c:strRef>
          </c:tx>
          <c:spPr>
            <a:solidFill>
              <a:srgbClr val="7BA7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AIME24</c:v>
                  </c:pt>
                  <c:pt idx="1">
                    <c:v>AIME25</c:v>
                  </c:pt>
                  <c:pt idx="2">
                    <c:v>BRUMO25</c:v>
                  </c:pt>
                  <c:pt idx="3">
                    <c:v>HMMT25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</c:v>
                </c:pt>
                <c:pt idx="1">
                  <c:v>1.42</c:v>
                </c:pt>
                <c:pt idx="2">
                  <c:v>1.81</c:v>
                </c:pt>
                <c:pt idx="3">
                  <c:v>2.78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DC-low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AIME24</c:v>
                  </c:pt>
                  <c:pt idx="1">
                    <c:v>AIME25</c:v>
                  </c:pt>
                  <c:pt idx="2">
                    <c:v>BRUMO25</c:v>
                  </c:pt>
                  <c:pt idx="3">
                    <c:v>HMMT25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0.53</c:v>
                </c:pt>
                <c:pt idx="1">
                  <c:v>0.49</c:v>
                </c:pt>
                <c:pt idx="2">
                  <c:v>0.73</c:v>
                </c:pt>
                <c:pt idx="3">
                  <c:v>0.97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4A5568"/>
                </a:solidFill>
                <a:latin typeface="Arial"/>
              </a:rPr>
              <a:t>DeepSeek-R1-8B on AIME 2025  —  Accuracy (%) vs Voting Budget 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Majority Voting</c:v>
                </c:pt>
              </c:strCache>
            </c:strRef>
          </c:tx>
          <c:spPr>
            <a:solidFill>
              <a:srgbClr val="9AA5B4"/>
            </a:solidFill>
            <a:ln w="31750" cap="flat">
              <a:solidFill>
                <a:srgbClr val="9AA5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B4"/>
              </a:solidFill>
              <a:ln w="9525" cap="flat">
                <a:solidFill>
                  <a:srgbClr val="9AA5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  <c:pt idx="8">
                    <c:v>256</c:v>
                  </c:pt>
                  <c:pt idx="9">
                    <c:v>512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76.9</c:v>
                </c:pt>
                <c:pt idx="1">
                  <c:v>78.5</c:v>
                </c:pt>
                <c:pt idx="2">
                  <c:v>79.8</c:v>
                </c:pt>
                <c:pt idx="3">
                  <c:v>80.6</c:v>
                </c:pt>
                <c:pt idx="4">
                  <c:v>81.2</c:v>
                </c:pt>
                <c:pt idx="5">
                  <c:v>81.8</c:v>
                </c:pt>
                <c:pt idx="6">
                  <c:v>82</c:v>
                </c:pt>
                <c:pt idx="7">
                  <c:v>82.2</c:v>
                </c:pt>
                <c:pt idx="8">
                  <c:v>82.3</c:v>
                </c:pt>
                <c:pt idx="9">
                  <c:v>82.3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DeepConf Top-90%</c:v>
                </c:pt>
              </c:strCache>
            </c:strRef>
          </c:tx>
          <c:spPr>
            <a:solidFill>
              <a:srgbClr val="7BA7D4"/>
            </a:solidFill>
            <a:ln w="31750" cap="flat">
              <a:solidFill>
                <a:srgbClr val="7BA7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A7D4"/>
              </a:solidFill>
              <a:ln w="9525" cap="flat">
                <a:solidFill>
                  <a:srgbClr val="7BA7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  <c:pt idx="8">
                    <c:v>256</c:v>
                  </c:pt>
                  <c:pt idx="9">
                    <c:v>512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76.9</c:v>
                </c:pt>
                <c:pt idx="1">
                  <c:v>78.6</c:v>
                </c:pt>
                <c:pt idx="2">
                  <c:v>79.9</c:v>
                </c:pt>
                <c:pt idx="3">
                  <c:v>80.7</c:v>
                </c:pt>
                <c:pt idx="4">
                  <c:v>81.3</c:v>
                </c:pt>
                <c:pt idx="5">
                  <c:v>81.9</c:v>
                </c:pt>
                <c:pt idx="6">
                  <c:v>82.1</c:v>
                </c:pt>
                <c:pt idx="7">
                  <c:v>82.3</c:v>
                </c:pt>
                <c:pt idx="8">
                  <c:v>82.5</c:v>
                </c:pt>
                <c:pt idx="9">
                  <c:v>82.7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DeepConf Top-10%</c:v>
                </c:pt>
              </c:strCache>
            </c:strRef>
          </c:tx>
          <c:spPr>
            <a:solidFill>
              <a:srgbClr val="4A5568"/>
            </a:solidFill>
            <a:ln w="31750" cap="flat">
              <a:solidFill>
                <a:srgbClr val="4A55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5568"/>
              </a:solidFill>
              <a:ln w="9525" cap="flat">
                <a:solidFill>
                  <a:srgbClr val="4A55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  <c:pt idx="6">
                    <c:v>64</c:v>
                  </c:pt>
                  <c:pt idx="7">
                    <c:v>128</c:v>
                  </c:pt>
                  <c:pt idx="8">
                    <c:v>256</c:v>
                  </c:pt>
                  <c:pt idx="9">
                    <c:v>512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76.9</c:v>
                </c:pt>
                <c:pt idx="1">
                  <c:v>79</c:v>
                </c:pt>
                <c:pt idx="2">
                  <c:v>80.5</c:v>
                </c:pt>
                <c:pt idx="3">
                  <c:v>82</c:v>
                </c:pt>
                <c:pt idx="4">
                  <c:v>83.5</c:v>
                </c:pt>
                <c:pt idx="5">
                  <c:v>84.5</c:v>
                </c:pt>
                <c:pt idx="6">
                  <c:v>85.5</c:v>
                </c:pt>
                <c:pt idx="7">
                  <c:v>86.5</c:v>
                </c:pt>
                <c:pt idx="8">
                  <c:v>87</c:v>
                </c:pt>
                <c:pt idx="9">
                  <c:v>87.4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4"/>
        </c:scaling>
        <c:delete val="0"/>
        <c:axPos val="l"/>
        <c:majorGridlines>
          <c:spPr>
            <a:ln w="6350" cap="flat">
              <a:solidFill>
                <a:srgbClr val="EA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66928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Think with Confidence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7190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(DeepConf)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813816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8716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model's own token probabilities reveal which reasoning traces to trust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how that insight cuts tokens by 84% while improving accuracy.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8138160" cy="132588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56432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Fu, Wang, Tian &amp; Zhao — Meta AI &amp; UCSD
</a:t>
            </a:r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arXiv:2508.15260 — August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3456432"/>
            <a:ext cx="18288" cy="914400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3456432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Prachi Gupta
</a:t>
            </a:r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SJSU ID: 019106594
</a:t>
            </a:r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258 — Deep Learning  |  SJSU  |  Spring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26464"/>
            <a:ext cx="475488" cy="475488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264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majority voting costs 100M tokens for marginal gains — and why traces are unequal quality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1371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39696"/>
            <a:ext cx="475488" cy="475488"/>
          </a:xfrm>
          <a:prstGeom prst="ellipse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39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as a Signal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0487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entropy, group windows, tail confidence — reading quality from existing log-probabilities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8503920" cy="1371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52928"/>
            <a:ext cx="475488" cy="475488"/>
          </a:xfrm>
          <a:prstGeom prst="ellipse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52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620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DeepConf's Two Modes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181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filtering/weighting and online early stopping — same signal, two applications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410712"/>
            <a:ext cx="8503920" cy="1371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66160"/>
            <a:ext cx="475488" cy="475488"/>
          </a:xfrm>
          <a:prstGeom prst="ellipse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753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8313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on AIME 2025, 84.7% token reduction — across 5 models and 5 benchmarks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123944"/>
            <a:ext cx="8503920" cy="13716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79392"/>
            <a:ext cx="475488" cy="475488"/>
          </a:xfrm>
          <a:prstGeom prst="ellipse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9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288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5445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elegant, what's limited, and connections to deep learning concepts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457200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thinking at scale is both expensive and fundamentally flawed.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Majority Voting Breaks Down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3200400" cy="338328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8132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reasoning traces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291840"/>
            <a:ext cx="265176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0156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Qwen3-8B from 68% → 82%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AIME 2025 via majority voting.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over 100 million tokens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benchmark.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94760" y="1353312"/>
            <a:ext cx="5029200" cy="100584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353312"/>
            <a:ext cx="64008" cy="1005840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0208" y="14264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votes, unequal quality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50208" y="17190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trace gets one vote — whether it reasoned cleanly or second-guessed itself five times. Shaky traces contaminate the pool.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94760" y="2468880"/>
            <a:ext cx="5029200" cy="100584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2468880"/>
            <a:ext cx="64008" cy="1005840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542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50208" y="2834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plateaus past a certain budget. Sometimes it even drops. The model keeps making the same mistakes regardless of how many traces you add.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94760" y="3584448"/>
            <a:ext cx="5029200" cy="100584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3584448"/>
            <a:ext cx="64008" cy="1005840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950208" y="39502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token, the model outputs a full probability distribution. Those distributions carry quality information nobody is reading.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E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B8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Signal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457200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529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log-probabilities tell us, at every step, how sure the model is — and correct traces are measurably more confident than incorrect ones.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Measure Confidence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captures a different aspect of where reasoning quality lives within a trace.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13232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916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783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Trace Confidence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C_avg = (1/N) Σ Cᵢ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0" y="1892808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92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4920" y="17830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— establishes the baseline. Masks local failures when strong starts inflate the mean.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49631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49631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2688" y="2587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Confidence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C_Gᵢ = avg(Cₜ) over sliding window 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269748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74920" y="2587752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over n tokens. Tracks how confidence evolves through the chain — catches mid-trace dips.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300984"/>
            <a:ext cx="8503920" cy="713232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0098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33924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Bottom-10% Group Confidence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2688" y="36850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of lowest-decile group windows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0" y="350215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502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3392424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10% of group confidence values. A sustained rough patch signals a bad trace even if it recovers.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10565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0565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2688" y="41970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Confidence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32688" y="44897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A7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avg(Cᵢ) over last K tokens  (K = 2048)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0" y="4306824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6F4EF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06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A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STEPS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74920" y="4197096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is what gets graded. High confidence at the end means the model committed cleanly.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4178808"/>
            <a:ext cx="8503920" cy="530352"/>
          </a:xfrm>
          <a:prstGeom prst="rect">
            <a:avLst/>
          </a:prstGeom>
          <a:solidFill>
            <a:srgbClr val="EAF2FB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  Key finding: correct traces have systematically higher confidence than incorrect ones — consistent enough to filter, weight, and stop on.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DeepConf's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457200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529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re-weights completed traces.  Online mode terminates bad ones mid-generation.  Zero retraining.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OFFLINE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Mode: Smarter Aggregation After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traces are already generated. Use confidence to decide who votes and how much their vote counts.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54864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594360" cy="960120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Voting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939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trace casts a vote weighted by its overall confidence score rather than a flat equal vote. High-confidence traces count more toward the final answer.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770632"/>
            <a:ext cx="54864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770632"/>
            <a:ext cx="594360" cy="960120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70632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28620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Filtering  —  Top-90%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the bottom 10% of traces by confidence before voting. Removes clear junk without over-concentrating. Lower risk, moderate gain.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849624"/>
            <a:ext cx="5486400" cy="960120"/>
          </a:xfrm>
          <a:prstGeom prst="rect">
            <a:avLst/>
          </a:prstGeom>
          <a:solidFill>
            <a:srgbClr val="FDF3E7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849624"/>
            <a:ext cx="594360" cy="960120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49624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5840" y="39410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Filtering  —  Top-10%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top 10% most confident traces. Produces the largest accuracy jumps but risks amplifying errors if the model is confidently wrong.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1600200"/>
            <a:ext cx="2743200" cy="315468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at a Glance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084832"/>
            <a:ext cx="256032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2176272"/>
          <a:ext cx="2615184" cy="2377440"/>
        </p:xfrm>
        <a:graphic>
          <a:graphicData uri="http://schemas.openxmlformats.org/drawingml/2006/table">
            <a:tbl>
              <a:tblPr/>
              <a:tblGrid>
                <a:gridCol w="1005840"/>
                <a:gridCol w="804672"/>
                <a:gridCol w="804672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Well-calibrated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ONLINE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Mode: Stop Bad Traces Before They Finish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confidence continuously during generation. The moment the current window drops below the learned threshold — stop. Save every token after that 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88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278892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874520"/>
            <a:ext cx="685800" cy="685800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" y="265176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Phase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96265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 = 16 complete traces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242316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6499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16 traces fully to completion. Compute lowest group confidence per trace. Set stopping threshold s at the percentile matching the chosen variant (DC-high = 10th, DC-low = 90th).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18688" y="1691640"/>
            <a:ext cx="2788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691640"/>
            <a:ext cx="2788920" cy="7315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0248" y="1874520"/>
            <a:ext cx="685800" cy="685800"/>
          </a:xfrm>
          <a:prstGeom prst="ellipse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28416" y="265176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28416" y="296265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Per-trace confidence monitoring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3255264"/>
            <a:ext cx="242316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36499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subsequent trace, continuously compute the current sliding-window group confidence. The moment it drops below threshold s: halt. Discard the partial trace from voting. Every token saved is real compute saved.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63056" y="1691640"/>
            <a:ext cx="2788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1691640"/>
            <a:ext cx="2788920" cy="7315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14616" y="1874520"/>
            <a:ext cx="685800" cy="685800"/>
          </a:xfrm>
          <a:prstGeom prst="ellipse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14616" y="1874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272784" y="265176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Stopping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296265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≥ 0.95 — stop entirely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45936" y="3255264"/>
            <a:ext cx="242316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3364992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leading answer's share of total surviving vote weight. Once 95% consensus is reached, stop generating new traces altogether. No point in adding certainty to something already certain.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E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B8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487168"/>
            <a:ext cx="457200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700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 ·  5 benchmarks  ·  64 independent runs each  ·  Zero model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ACCURACY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Mode: Accuracy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8503920" cy="214884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371600"/>
                <a:gridCol w="1371600"/>
                <a:gridCol w="1828800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pass@1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cons@512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DC-low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568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 / AIME25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A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 / AIME24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A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DeepSeek-R1-8B / AIME25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A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DeepSeek-R1-8B / AIME24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A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Qwen3-32B / AIME25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A0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320040" y="3584448"/>
          <a:ext cx="850392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EFFICIENCY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Mode: Token Efficiency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71600"/>
            <a:ext cx="2651760" cy="64008"/>
          </a:xfrm>
          <a:prstGeom prst="rect">
            <a:avLst/>
          </a:prstGeom>
          <a:solidFill>
            <a:srgbClr val="5BA08A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8132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A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−84.7%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45059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2025 — DC-low online mode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371600"/>
            <a:ext cx="2651760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8132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retained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45059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97.1% for cons@512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371600"/>
            <a:ext cx="2651760" cy="64008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48132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loss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080760" y="2194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DC-high variant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45059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— no accuracy drop at all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20040" y="2761488"/>
          <a:ext cx="8503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SCALING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Behavior Across Voting Budgets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53312"/>
          <a:ext cx="62179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12280" y="1353312"/>
            <a:ext cx="2011680" cy="361188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481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31152" y="1847088"/>
            <a:ext cx="1783080" cy="27432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2011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+5.1pt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03720" y="2487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Top-10% vs. majority at N = 512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03720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03720" y="35112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visible even at tiny budgets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405993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903720" y="45354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ceiling — stays flat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B8C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457200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529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elegant, what's limited, and where it connects to the deep learning curriculum.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114800" cy="347472"/>
          </a:xfrm>
          <a:prstGeom prst="rect">
            <a:avLst/>
          </a:prstGeom>
          <a:solidFill>
            <a:srgbClr val="E6F4EF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find genuinely strong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4114800" cy="68580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64792"/>
            <a:ext cx="54864" cy="685800"/>
          </a:xfrm>
          <a:prstGeom prst="rect">
            <a:avLst/>
          </a:prstGeom>
          <a:solidFill>
            <a:srgbClr val="5BA08A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75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Log-probabilities exist in every generation pass. Reading them costs nothing extra whatsoever.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42032"/>
            <a:ext cx="54864" cy="685800"/>
          </a:xfrm>
          <a:prstGeom prst="rect">
            <a:avLst/>
          </a:prstGeom>
          <a:solidFill>
            <a:srgbClr val="5BA08A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beats global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confidence catches the exact moments reasoning breaks down — global averaging buries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319272"/>
            <a:ext cx="4114800" cy="68580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19272"/>
            <a:ext cx="54864" cy="685800"/>
          </a:xfrm>
          <a:prstGeom prst="rect">
            <a:avLst/>
          </a:prstGeom>
          <a:solidFill>
            <a:srgbClr val="5BA08A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7413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benefit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improves accuracy. Online mode saves tokens. Both together at once.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96512"/>
            <a:ext cx="54864" cy="685800"/>
          </a:xfrm>
          <a:prstGeom prst="rect">
            <a:avLst/>
          </a:prstGeom>
          <a:solidFill>
            <a:srgbClr val="5BA08A"/>
          </a:solidFill>
          <a:ln w="12700">
            <a:solidFill>
              <a:srgbClr val="5BA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5137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074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any LLM serving stack. No labeled data, no fine-tuning, no external reward model.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261872"/>
            <a:ext cx="18288" cy="3611880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325880"/>
            <a:ext cx="4069080" cy="347472"/>
          </a:xfrm>
          <a:prstGeom prst="rect">
            <a:avLst/>
          </a:prstGeom>
          <a:solidFill>
            <a:srgbClr val="FAE8E8"/>
          </a:solidFill>
          <a:ln w="12700">
            <a:solidFill>
              <a:srgbClr val="C47B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258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worth flagging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764792"/>
            <a:ext cx="4069080" cy="68580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764792"/>
            <a:ext cx="54864" cy="685800"/>
          </a:xfrm>
          <a:prstGeom prst="rect">
            <a:avLst/>
          </a:prstGeom>
          <a:solidFill>
            <a:srgbClr val="C47B7B"/>
          </a:solidFill>
          <a:ln w="12700">
            <a:solidFill>
              <a:srgbClr val="C47B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819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 failure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075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is confidently wrong, top-10% filtering concentrates votes on the incorrect answer. Confidence ≠ correctness.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542032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542032"/>
            <a:ext cx="54864" cy="685800"/>
          </a:xfrm>
          <a:prstGeom prst="rect">
            <a:avLst/>
          </a:prstGeom>
          <a:solidFill>
            <a:srgbClr val="C47B7B"/>
          </a:solidFill>
          <a:ln w="12700">
            <a:solidFill>
              <a:srgbClr val="C47B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96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cost eats small budgets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28529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warmup traces before stopping kicks in. At total budget B = 32, that's half gone before any efficiency gain.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319272"/>
            <a:ext cx="4069080" cy="685800"/>
          </a:xfrm>
          <a:prstGeom prst="rect">
            <a:avLst/>
          </a:prstGeom>
          <a:solidFill>
            <a:srgbClr val="F8F9FE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319272"/>
            <a:ext cx="54864" cy="685800"/>
          </a:xfrm>
          <a:prstGeom prst="rect">
            <a:avLst/>
          </a:prstGeom>
          <a:solidFill>
            <a:srgbClr val="C47B7B"/>
          </a:solidFill>
          <a:ln w="12700">
            <a:solidFill>
              <a:srgbClr val="C47B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3741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benchmarks only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3630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on AIME, HMMT, BRUMO, GPQA. Transfer to code generation or free-form text is completely untested.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96512"/>
            <a:ext cx="4069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096512"/>
            <a:ext cx="54864" cy="685800"/>
          </a:xfrm>
          <a:prstGeom prst="rect">
            <a:avLst/>
          </a:prstGeom>
          <a:solidFill>
            <a:srgbClr val="C47B7B"/>
          </a:solidFill>
          <a:ln w="12700">
            <a:solidFill>
              <a:srgbClr val="C47B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513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is task-sensitive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92040" y="4407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retention ratio varies by model and dataset. No universal default — requires tuning with a labeled validation set.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DF3E7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Class + My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8503920" cy="27432"/>
          </a:xfrm>
          <a:prstGeom prst="rect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connections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819656"/>
            <a:ext cx="347472" cy="347472"/>
          </a:xfrm>
          <a:prstGeom prst="ellipse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19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74650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00253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entropy is epistemic uncertainty read off the softmax — same concept as MC Dropout, lighter execution.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569464"/>
            <a:ext cx="347472" cy="347472"/>
          </a:xfrm>
          <a:prstGeom prst="ellipse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4963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5234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N-trace majority voting = N-forward-pass ensemble. DeepConf adds quality-aware weighting — like boosting.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319272"/>
            <a:ext cx="347472" cy="347472"/>
          </a:xfrm>
          <a:prstGeom prst="ellipse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324612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Computation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50215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stopping (β ≥ 0.95) is adaptive depth — spend more compute on hard problems, stop early on easy ones.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4069080"/>
            <a:ext cx="347472" cy="347472"/>
          </a:xfrm>
          <a:prstGeom prst="ellipse">
            <a:avLst/>
          </a:prstGeom>
          <a:solidFill>
            <a:srgbClr val="7BA7D4"/>
          </a:solidFill>
          <a:ln w="12700">
            <a:solidFill>
              <a:srgbClr val="7BA7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99592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vs Training Tradeoff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42519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scaling: buy accuracy with inference compute instead of training compute. DeepConf makes it efficient.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261872"/>
            <a:ext cx="18288" cy="3611880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2984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three takeaways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6916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691640"/>
            <a:ext cx="502920" cy="914400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6916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76672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was always there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20939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probabilities are computed anyway. DeepConf just reads them. The elegance is the zero-overhead nature of it.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71576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715768"/>
            <a:ext cx="502920" cy="914400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715768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76672" y="28072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beats global every time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6672" y="31181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patch in the middle matters even if the trace recovers. Any metric that smooths over that loses signal.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739896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739896"/>
            <a:ext cx="502920" cy="914400"/>
          </a:xfrm>
          <a:prstGeom prst="rect">
            <a:avLst/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739896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376672" y="3831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correctness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76672" y="41422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overconfidence failure is real and not solvable within this framework. Better calibration is the unsolved piece.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49194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DeepConf  —  CMPE 258  —  SJSU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27432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38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4206240" cy="196596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06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999232"/>
            <a:ext cx="39319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Think with Confidence (DeepConf)
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Fu, Wang, Tian &amp; Zhao
Meta AI Research — UCSD
</a:t>
            </a:r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arXiv:2508.15260  ·  August 2025
</a:t>
            </a:r>
            <a:pPr indent="0" marL="0">
              <a:buNone/>
            </a:pPr>
            <a:r>
              <a:rPr lang="en-US" sz="1200" i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jiaweizzhao.github.io/deepconf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2578608"/>
            <a:ext cx="3749040" cy="1965960"/>
          </a:xfrm>
          <a:prstGeom prst="rect">
            <a:avLst/>
          </a:prstGeom>
          <a:solidFill>
            <a:srgbClr val="EAF2FB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706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4920" y="2999232"/>
            <a:ext cx="34747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Prachi Gupta
</a:t>
            </a:r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SJSU ID: 019106594
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258 — Deep Learning
</a:t>
            </a:r>
            <a:pPr indent="0" marL="0">
              <a:buNone/>
            </a:pPr>
            <a:r>
              <a:rPr lang="en-US" sz="13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 ·  Spring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Think with Confidence — DeepConf</dc:title>
  <dc:subject>PptxGenJS Presentation</dc:subject>
  <dc:creator>PptxGenJS</dc:creator>
  <cp:lastModifiedBy>PptxGenJS</cp:lastModifiedBy>
  <cp:revision>1</cp:revision>
  <dcterms:created xsi:type="dcterms:W3CDTF">2026-05-07T23:10:00Z</dcterms:created>
  <dcterms:modified xsi:type="dcterms:W3CDTF">2026-05-07T23:10:00Z</dcterms:modified>
</cp:coreProperties>
</file>